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68" r:id="rId1"/>
  </p:sldMasterIdLst>
  <p:notesMasterIdLst>
    <p:notesMasterId r:id="rId22"/>
  </p:notesMasterIdLst>
  <p:sldIdLst>
    <p:sldId id="273" r:id="rId2"/>
    <p:sldId id="277" r:id="rId3"/>
    <p:sldId id="274" r:id="rId4"/>
    <p:sldId id="300" r:id="rId5"/>
    <p:sldId id="279" r:id="rId6"/>
    <p:sldId id="298" r:id="rId7"/>
    <p:sldId id="299" r:id="rId8"/>
    <p:sldId id="301" r:id="rId9"/>
    <p:sldId id="281" r:id="rId10"/>
    <p:sldId id="297" r:id="rId11"/>
    <p:sldId id="280" r:id="rId12"/>
    <p:sldId id="275" r:id="rId13"/>
    <p:sldId id="302" r:id="rId14"/>
    <p:sldId id="306" r:id="rId15"/>
    <p:sldId id="303" r:id="rId16"/>
    <p:sldId id="304" r:id="rId17"/>
    <p:sldId id="305" r:id="rId18"/>
    <p:sldId id="278" r:id="rId19"/>
    <p:sldId id="276" r:id="rId20"/>
    <p:sldId id="25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77778" autoAdjust="0"/>
  </p:normalViewPr>
  <p:slideViewPr>
    <p:cSldViewPr snapToGrid="0">
      <p:cViewPr varScale="1">
        <p:scale>
          <a:sx n="82" d="100"/>
          <a:sy n="82" d="100"/>
        </p:scale>
        <p:origin x="763" y="10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57E3C5-0F20-4039-B99C-AD7AB450C90D}" type="datetimeFigureOut">
              <a:rPr lang="en-IN" smtClean="0"/>
              <a:pPr/>
              <a:t>20-11-2024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29D675-F1B6-4FC6-80D5-E749EE90A86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610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C47D7-0736-4668-8B7A-0D09271F4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430037-F9A8-4031-BEB2-F263EDD8FE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9BB46-4BE8-4DAB-9110-DD58CB831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E09F1-3FA3-4483-9EB9-570B5225C02C}" type="datetime1">
              <a:rPr lang="en-US" smtClean="0"/>
              <a:t>11/20/2024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4A419-74E4-42B8-ACE3-6E8DE8B85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C8193-3796-4108-9E56-DC18EC491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64057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59C8E-AB37-4ABD-8FAD-E174D44F1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F48C0-CF7B-46F9-862E-D3705BE54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9E667-9787-4DA6-A98F-9438129EC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3569-31D2-4F82-A258-8AAAB0F3C68D}" type="datetime1">
              <a:rPr lang="en-US" smtClean="0"/>
              <a:t>11/20/2024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73625-D892-463F-90DE-71D92FAA1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F3ACA-02C6-4B4B-99BF-BDBDDE1A0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658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DA241-1788-4CC4-A228-02BB3B6DF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D6E129-B11B-4C58-A023-AC1BC84E7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31EA47-407C-42F0-8741-3FE451008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AF9F4-6954-4510-9822-E082C3EF4295}" type="datetime1">
              <a:rPr lang="en-US" smtClean="0"/>
              <a:t>11/20/2024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D0D1C-D5D8-4B4C-B10A-76BF96EBB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C71F5-3A48-492C-A6D2-8C4DE9E73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3906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CEBDB-EBDA-447F-AB32-F62408215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740BA-7404-4CFB-A1F1-E2E58C6EA4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F9F69-7911-4B53-BF11-2FB90602A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1C6A4-9F8B-45B0-A1B6-0D2527A8E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A1C34-2AC4-438B-9E8F-E97FCD5EDA2A}" type="datetime1">
              <a:rPr lang="en-US" smtClean="0"/>
              <a:t>11/20/2024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A474CD-B471-452A-AA37-180CA7DD0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A88DF9-3919-4E9A-94C1-1EA504B3C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681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71527-21C1-4445-A667-9AA01EF8D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3BCEA-AD0C-4AA2-AE5C-471D3CE3B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65C86B-FF9F-4C5C-9A6F-8FC280018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20AA1D-164F-4931-910D-79C56F969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EA2172-9FA8-4244-B9B6-FE18DC8D75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B3B551-7925-46A9-9EFC-A35ED5A57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0EE42-ABC5-409D-8AD1-70EE17279966}" type="datetime1">
              <a:rPr lang="en-US" smtClean="0"/>
              <a:t>11/20/2024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021CFD-9840-4B68-9CD4-5C0DB81AA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B1DAB3-BCB2-4E7E-BC83-C67AD9102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026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66F2C-C5F8-4B9F-AF69-457767FF2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E324AA-C8D6-4DED-8F8F-C5C405178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AF7DB-DF01-43FA-A6A1-D12C7B3E6584}" type="datetime1">
              <a:rPr lang="en-US" smtClean="0"/>
              <a:t>11/20/2024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418AE2-3476-47DF-9307-79E7E281C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660BE-9251-4B28-BC6D-688152FEB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198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D69742-D293-4A92-9D6A-81A9215F1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1FCCD-A4BA-4B86-A0BD-A2551F0190AF}" type="datetime1">
              <a:rPr lang="en-US" smtClean="0"/>
              <a:t>11/20/2024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75DB97-C361-43B4-9EBF-034F29266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2719B-73B1-4EAA-812E-BE1937778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415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462A9-772F-4FA9-9F0D-03FC616DD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F99F0-D286-4728-9946-8C8A6078E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5B1768-3719-4038-BBC0-BF49F5433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7E2D5-4A60-4B41-9EB1-B9A99AF99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A58FB-EA97-493D-8926-642F651C95D6}" type="datetime1">
              <a:rPr lang="en-US" smtClean="0"/>
              <a:t>11/20/2024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5614A2-C4FA-4445-9505-40D21DC7E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D23E75-7AB6-44D1-ACED-2D99F66B8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100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606C3-4FF3-4E54-BA9B-AB5B48166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609778-6425-4A27-BC93-73C9104D60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4FBCC2-2799-4AF0-BC82-1512AD25BE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85AC5-0895-4143-8D58-E84A23251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0E78C-9935-491A-A467-16BA706A26CC}" type="datetime1">
              <a:rPr lang="en-US" smtClean="0"/>
              <a:t>11/20/2024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2DA00-A839-4C69-9DC9-87D08E9C9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708A6-D651-42E7-A078-A96888BB5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234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78C54-647E-4DAE-9868-301095908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3C8874-718F-4648-A726-4B1833EAFD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40F7E-4A4E-4A49-A298-339FB121D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EA4AF-E227-4D71-8FE2-7BF908C29C08}" type="datetime1">
              <a:rPr lang="en-US" smtClean="0"/>
              <a:t>11/20/2024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1BEE6-AA62-46D6-9DA4-C6F52B7B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37460-35D0-4391-8543-55E562AAE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078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B73D52-3AD4-4AD5-A896-BEC44A631F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208DE3-70BD-421D-BAEB-B415792284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EBC3A-B845-4714-B8BF-50838F9D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44FB2-4018-4DE9-BE03-8A2536C32A0D}" type="datetime1">
              <a:rPr lang="en-US" smtClean="0"/>
              <a:t>11/20/2024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67D99-A9F2-4FB4-A675-DAFED6373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BB700-09DD-484C-8A98-85D26E97B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976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89C6F7-717C-4131-B357-245B3451A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D9697-D15C-4D55-946D-9F45351AB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5CBE9-8CA6-49E2-B16A-963E7718FC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0D91E-C0F8-4325-B779-8610C0F9DEB2}" type="datetime1">
              <a:rPr lang="en-US" smtClean="0"/>
              <a:t>11/20/2024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4D91D-BAB0-4200-BD64-63F79D551C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Dept. of ISE, SDM Institute of Technology, Ujire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FB7FE-88B2-4D0B-96C9-6E3D90BB86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279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AEB02-47D5-4BF2-B5CE-B23D2EA98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723444"/>
            <a:ext cx="12192000" cy="938066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5000" dirty="0"/>
              <a:t>Fake Currency Detection Using Python Flask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376027-046A-47E7-93B6-37FB9DF34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8554" y="4059238"/>
            <a:ext cx="5667053" cy="2149057"/>
          </a:xfrm>
        </p:spPr>
        <p:txBody>
          <a:bodyPr>
            <a:normAutofit fontScale="47500" lnSpcReduction="20000"/>
          </a:bodyPr>
          <a:lstStyle/>
          <a:p>
            <a:r>
              <a:rPr lang="en-US" sz="4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r>
              <a:rPr lang="en-IN" sz="4400" dirty="0"/>
              <a:t>Amit U Pai-4SU22IS004</a:t>
            </a:r>
          </a:p>
          <a:p>
            <a:r>
              <a:rPr lang="en-IN" sz="4400" dirty="0" err="1"/>
              <a:t>Ashwal</a:t>
            </a:r>
            <a:r>
              <a:rPr lang="en-IN" sz="4400" dirty="0"/>
              <a:t> T S-4SU22IS007</a:t>
            </a:r>
          </a:p>
          <a:p>
            <a:r>
              <a:rPr lang="en-IN" sz="4400" dirty="0"/>
              <a:t> </a:t>
            </a:r>
            <a:r>
              <a:rPr lang="en-IN" sz="4400" dirty="0" err="1"/>
              <a:t>Giridhara</a:t>
            </a:r>
            <a:r>
              <a:rPr lang="en-IN" sz="4400" dirty="0"/>
              <a:t> M-4SU22IS018</a:t>
            </a:r>
          </a:p>
          <a:p>
            <a:r>
              <a:rPr lang="en-IN" sz="4400" dirty="0"/>
              <a:t>  Mahesh M B-4SU22IS028</a:t>
            </a:r>
          </a:p>
          <a:p>
            <a:r>
              <a:rPr lang="en-IN" sz="4400" dirty="0"/>
              <a:t>   Shantakumar-4SU22IS041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67C19EC5-1777-46E3-9823-16F1FFBA2167}"/>
              </a:ext>
            </a:extLst>
          </p:cNvPr>
          <p:cNvSpPr txBox="1">
            <a:spLocks/>
          </p:cNvSpPr>
          <p:nvPr/>
        </p:nvSpPr>
        <p:spPr>
          <a:xfrm>
            <a:off x="1452880" y="3845878"/>
            <a:ext cx="36068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72042A7-FAA2-4FC3-A442-885D3393CE6E}"/>
              </a:ext>
            </a:extLst>
          </p:cNvPr>
          <p:cNvSpPr txBox="1">
            <a:spLocks/>
          </p:cNvSpPr>
          <p:nvPr/>
        </p:nvSpPr>
        <p:spPr>
          <a:xfrm>
            <a:off x="1088470" y="4204022"/>
            <a:ext cx="4064000" cy="1610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</a:p>
          <a:p>
            <a:r>
              <a:rPr lang="en-IN" dirty="0"/>
              <a:t>Mrs. Ashwini B</a:t>
            </a:r>
          </a:p>
          <a:p>
            <a:r>
              <a:rPr lang="en-IN" dirty="0"/>
              <a:t>Assistant professor</a:t>
            </a:r>
          </a:p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534849-2760-49B1-B8E3-693C0DE33A40}"/>
              </a:ext>
            </a:extLst>
          </p:cNvPr>
          <p:cNvSpPr/>
          <p:nvPr/>
        </p:nvSpPr>
        <p:spPr>
          <a:xfrm>
            <a:off x="1863525" y="513105"/>
            <a:ext cx="8773610" cy="126188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IN" sz="2800" b="1" dirty="0"/>
              <a:t>SDM Institute of Technology, Ujire</a:t>
            </a:r>
            <a:br>
              <a:rPr lang="en-IN" sz="2400" b="1" dirty="0"/>
            </a:br>
            <a:r>
              <a:rPr lang="en-IN" sz="2400" b="1" dirty="0"/>
              <a:t>Department of Information Science and Engineering</a:t>
            </a:r>
          </a:p>
          <a:p>
            <a:pPr algn="ctr"/>
            <a:r>
              <a:rPr lang="en-IN" sz="2400" dirty="0"/>
              <a:t>Mini Project(BIS586)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29A130-FECD-43F7-995B-035B1436A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696" y="261801"/>
            <a:ext cx="1446478" cy="13901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47BFD45-45AE-4D6C-A242-7FFE86576D84}"/>
              </a:ext>
            </a:extLst>
          </p:cNvPr>
          <p:cNvSpPr/>
          <p:nvPr/>
        </p:nvSpPr>
        <p:spPr>
          <a:xfrm>
            <a:off x="4916473" y="1845625"/>
            <a:ext cx="23718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on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44254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D117B9-4FAE-45DF-A5E8-F1F1865A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Agenda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34ED2F-AC4C-4255-A9C2-A8A1F7A0A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7832"/>
            <a:ext cx="10515600" cy="4945043"/>
          </a:xfrm>
        </p:spPr>
        <p:txBody>
          <a:bodyPr>
            <a:noAutofit/>
          </a:bodyPr>
          <a:lstStyle/>
          <a:p>
            <a:pPr marL="890588" indent="-5318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600" dirty="0"/>
              <a:t>Introduction</a:t>
            </a:r>
          </a:p>
          <a:p>
            <a:pPr marL="890588" indent="-5318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600" dirty="0"/>
              <a:t>Literature Survey</a:t>
            </a:r>
          </a:p>
          <a:p>
            <a:pPr marL="890588" indent="-5318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600" dirty="0"/>
              <a:t>Problem Statement</a:t>
            </a:r>
          </a:p>
          <a:p>
            <a:pPr marL="890588" indent="-5318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600" dirty="0"/>
              <a:t>System Requirements</a:t>
            </a:r>
          </a:p>
          <a:p>
            <a:pPr marL="890588" indent="-5318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600" dirty="0"/>
              <a:t>Objectives</a:t>
            </a:r>
          </a:p>
          <a:p>
            <a:pPr marL="890588" indent="-5318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600" dirty="0"/>
              <a:t>Methodology</a:t>
            </a:r>
          </a:p>
          <a:p>
            <a:pPr marL="890588" indent="-5318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600" dirty="0"/>
              <a:t>System Design</a:t>
            </a:r>
          </a:p>
          <a:p>
            <a:pPr marL="890588" indent="-5318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600" dirty="0"/>
              <a:t>Implementation</a:t>
            </a:r>
          </a:p>
          <a:p>
            <a:pPr marL="890588" indent="-5318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600" dirty="0"/>
              <a:t>Excepted outcomes</a:t>
            </a:r>
          </a:p>
          <a:p>
            <a:pPr marL="890588" indent="-531813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IN" sz="2600" dirty="0"/>
              <a:t>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F6258C-64CC-45C3-9F1B-59885707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975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D117B9-4FAE-45DF-A5E8-F1F1865A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34ED2F-AC4C-4255-A9C2-A8A1F7A0A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0125"/>
            <a:ext cx="10515600" cy="5492750"/>
          </a:xfrm>
        </p:spPr>
        <p:txBody>
          <a:bodyPr>
            <a:noAutofit/>
          </a:bodyPr>
          <a:lstStyle/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dirty="0"/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+mj-lt"/>
              </a:rPr>
              <a:t>Develop a Python Flask application to identify counterfeit currency through image processing.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+mj-lt"/>
              </a:rPr>
              <a:t>Utilize image analysis techniques to detect features of genuine currency notes and coins.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+mj-lt"/>
              </a:rPr>
              <a:t>Implement a user-friendly interface for uploading and verifying currency images.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600" dirty="0">
                <a:latin typeface="+mj-lt"/>
              </a:rPr>
              <a:t>Integrating with </a:t>
            </a:r>
            <a:r>
              <a:rPr lang="en-US" sz="2600" dirty="0" err="1">
                <a:latin typeface="+mj-lt"/>
              </a:rPr>
              <a:t>Machiene</a:t>
            </a:r>
            <a:r>
              <a:rPr lang="en-US" sz="2600" dirty="0">
                <a:latin typeface="+mj-lt"/>
              </a:rPr>
              <a:t> Learning Model.</a:t>
            </a:r>
            <a:endParaRPr lang="en-US" sz="2600" dirty="0"/>
          </a:p>
          <a:p>
            <a:pPr marL="358775" indent="0">
              <a:lnSpc>
                <a:spcPct val="150000"/>
              </a:lnSpc>
              <a:buNone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sz="16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1F4874-96D4-4AF7-BE82-720B0307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4DC27B-234E-4916-BC4A-B231DBA695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89808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D117B9-4FAE-45DF-A5E8-F1F1865A5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1" y="-294640"/>
            <a:ext cx="10515600" cy="1620203"/>
          </a:xfrm>
        </p:spPr>
        <p:txBody>
          <a:bodyPr/>
          <a:lstStyle/>
          <a:p>
            <a:pPr algn="ctr"/>
            <a:r>
              <a:rPr lang="en-IN" dirty="0"/>
              <a:t>Literature Survey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99F27B-DF22-4A21-807B-640CD10CF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484A658-8F7C-490F-8F55-6C6CC85FFA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3945535"/>
              </p:ext>
            </p:extLst>
          </p:nvPr>
        </p:nvGraphicFramePr>
        <p:xfrm>
          <a:off x="538480" y="944881"/>
          <a:ext cx="11195347" cy="52073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91168">
                  <a:extLst>
                    <a:ext uri="{9D8B030D-6E8A-4147-A177-3AD203B41FA5}">
                      <a16:colId xmlns:a16="http://schemas.microsoft.com/office/drawing/2014/main" val="3122982398"/>
                    </a:ext>
                  </a:extLst>
                </a:gridCol>
                <a:gridCol w="8204179">
                  <a:extLst>
                    <a:ext uri="{9D8B030D-6E8A-4147-A177-3AD203B41FA5}">
                      <a16:colId xmlns:a16="http://schemas.microsoft.com/office/drawing/2014/main" val="2103634343"/>
                    </a:ext>
                  </a:extLst>
                </a:gridCol>
              </a:tblGrid>
              <a:tr h="568197">
                <a:tc>
                  <a:txBody>
                    <a:bodyPr/>
                    <a:lstStyle/>
                    <a:p>
                      <a:r>
                        <a:rPr lang="en-US" sz="2200" dirty="0"/>
                        <a:t>Name of research paper: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Fake Currency Detection Process</a:t>
                      </a:r>
                      <a:endParaRPr lang="en-IN" sz="2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781815"/>
                  </a:ext>
                </a:extLst>
              </a:tr>
              <a:tr h="418114">
                <a:tc>
                  <a:txBody>
                    <a:bodyPr/>
                    <a:lstStyle/>
                    <a:p>
                      <a:r>
                        <a:rPr lang="en-US" sz="2200" dirty="0"/>
                        <a:t>Year: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dirty="0"/>
                        <a:t>2019</a:t>
                      </a:r>
                      <a:endParaRPr lang="en-IN" sz="2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49079"/>
                  </a:ext>
                </a:extLst>
              </a:tr>
              <a:tr h="418114">
                <a:tc>
                  <a:txBody>
                    <a:bodyPr/>
                    <a:lstStyle/>
                    <a:p>
                      <a:r>
                        <a:rPr lang="en-US" sz="2200" dirty="0"/>
                        <a:t>Authors: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 Naveen Kumar, T Subhash </a:t>
                      </a:r>
                      <a:endParaRPr lang="en-IN" sz="2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946529"/>
                  </a:ext>
                </a:extLst>
              </a:tr>
              <a:tr h="1075150">
                <a:tc>
                  <a:txBody>
                    <a:bodyPr/>
                    <a:lstStyle/>
                    <a:p>
                      <a:r>
                        <a:rPr lang="en-IN" sz="2200" dirty="0"/>
                        <a:t>Key Point: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study presents an approach to detect counterfeit currency using advanced image processing techniques such as edge detection and texture analysis.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286593"/>
                  </a:ext>
                </a:extLst>
              </a:tr>
              <a:tr h="1069701">
                <a:tc>
                  <a:txBody>
                    <a:bodyPr/>
                    <a:lstStyle/>
                    <a:p>
                      <a:r>
                        <a:rPr lang="en-IN" sz="2200" dirty="0"/>
                        <a:t>Summary Of Abstract: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proposes a cost-effective and efficient digital solution for detecting fake currency by analyzing distinguishing features of authentic notes.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543183"/>
                  </a:ext>
                </a:extLst>
              </a:tr>
              <a:tr h="772922">
                <a:tc>
                  <a:txBody>
                    <a:bodyPr/>
                    <a:lstStyle/>
                    <a:p>
                      <a:r>
                        <a:rPr lang="en-IN" sz="2200" dirty="0"/>
                        <a:t>Plus Point: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Utilizes a combination of image processing and machine learning for robust detection.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679194"/>
                  </a:ext>
                </a:extLst>
              </a:tr>
              <a:tr h="818203">
                <a:tc>
                  <a:txBody>
                    <a:bodyPr/>
                    <a:lstStyle/>
                    <a:p>
                      <a:r>
                        <a:rPr lang="en-IN" sz="2200" dirty="0"/>
                        <a:t>Research Gap: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Limited exploration of performance with varying environmental conditions like poor lighting or blurred images.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154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2774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D117B9-4FAE-45DF-A5E8-F1F1865A5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1" y="-294640"/>
            <a:ext cx="10515600" cy="1620203"/>
          </a:xfrm>
        </p:spPr>
        <p:txBody>
          <a:bodyPr/>
          <a:lstStyle/>
          <a:p>
            <a:pPr algn="ctr"/>
            <a:r>
              <a:rPr lang="en-IN" dirty="0"/>
              <a:t>Literature Survey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99F27B-DF22-4A21-807B-640CD10CF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484A658-8F7C-490F-8F55-6C6CC85FFA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7042765"/>
              </p:ext>
            </p:extLst>
          </p:nvPr>
        </p:nvGraphicFramePr>
        <p:xfrm>
          <a:off x="538480" y="944881"/>
          <a:ext cx="11303000" cy="57765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98821">
                  <a:extLst>
                    <a:ext uri="{9D8B030D-6E8A-4147-A177-3AD203B41FA5}">
                      <a16:colId xmlns:a16="http://schemas.microsoft.com/office/drawing/2014/main" val="3122982398"/>
                    </a:ext>
                  </a:extLst>
                </a:gridCol>
                <a:gridCol w="8204179">
                  <a:extLst>
                    <a:ext uri="{9D8B030D-6E8A-4147-A177-3AD203B41FA5}">
                      <a16:colId xmlns:a16="http://schemas.microsoft.com/office/drawing/2014/main" val="2103634343"/>
                    </a:ext>
                  </a:extLst>
                </a:gridCol>
              </a:tblGrid>
              <a:tr h="618425">
                <a:tc>
                  <a:txBody>
                    <a:bodyPr/>
                    <a:lstStyle/>
                    <a:p>
                      <a:r>
                        <a:rPr lang="en-US" sz="2200" dirty="0"/>
                        <a:t>Name of research paper: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Fake Currency Detection Using Image Processing </a:t>
                      </a:r>
                      <a:endParaRPr lang="en-IN" sz="2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781815"/>
                  </a:ext>
                </a:extLst>
              </a:tr>
              <a:tr h="434700">
                <a:tc>
                  <a:txBody>
                    <a:bodyPr/>
                    <a:lstStyle/>
                    <a:p>
                      <a:r>
                        <a:rPr lang="en-US" sz="2200" dirty="0"/>
                        <a:t>Year: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200" b="0" dirty="0"/>
                        <a:t>2019</a:t>
                      </a:r>
                      <a:endParaRPr lang="en-IN" sz="2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49079"/>
                  </a:ext>
                </a:extLst>
              </a:tr>
              <a:tr h="434700">
                <a:tc>
                  <a:txBody>
                    <a:bodyPr/>
                    <a:lstStyle/>
                    <a:p>
                      <a:r>
                        <a:rPr lang="en-US" sz="2200" dirty="0"/>
                        <a:t>Authors: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2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Vidhi Roy, </a:t>
                      </a:r>
                      <a:r>
                        <a:rPr lang="en-IN" sz="2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Gangey</a:t>
                      </a:r>
                      <a:r>
                        <a:rPr lang="en-IN" sz="2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Mishra</a:t>
                      </a:r>
                      <a:endParaRPr lang="en-IN" sz="2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946529"/>
                  </a:ext>
                </a:extLst>
              </a:tr>
              <a:tr h="1162638">
                <a:tc>
                  <a:txBody>
                    <a:bodyPr/>
                    <a:lstStyle/>
                    <a:p>
                      <a:r>
                        <a:rPr lang="en-IN" sz="2200" dirty="0"/>
                        <a:t>Key Point: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paper employs image processing techniques such as edge detection, texture analysis, and color feature extraction to distinguish between fake and genuine currency.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286593"/>
                  </a:ext>
                </a:extLst>
              </a:tr>
              <a:tr h="1459350">
                <a:tc>
                  <a:txBody>
                    <a:bodyPr/>
                    <a:lstStyle/>
                    <a:p>
                      <a:r>
                        <a:rPr lang="en-IN" sz="2200" dirty="0"/>
                        <a:t>Summary Of Abstract: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research focuses on identifying counterfeit currency through advanced image processing techniques. It highlights the effectiveness of these methods in achieving reliable and accurate detection.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543183"/>
                  </a:ext>
                </a:extLst>
              </a:tr>
              <a:tr h="776250">
                <a:tc>
                  <a:txBody>
                    <a:bodyPr/>
                    <a:lstStyle/>
                    <a:p>
                      <a:r>
                        <a:rPr lang="en-IN" sz="2200" dirty="0"/>
                        <a:t>Plus Point: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study provides a cost-effective, automated solution that does not rely on specialized hardware.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679194"/>
                  </a:ext>
                </a:extLst>
              </a:tr>
              <a:tr h="890532">
                <a:tc>
                  <a:txBody>
                    <a:bodyPr/>
                    <a:lstStyle/>
                    <a:p>
                      <a:r>
                        <a:rPr lang="en-IN" sz="2200" dirty="0"/>
                        <a:t>Research Gap: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Limited discussion on handling degraded or blurred currency images, which are common in real-world scenarios.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154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1316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D117B9-4FAE-45DF-A5E8-F1F1865A5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1" y="-294640"/>
            <a:ext cx="10515600" cy="1620203"/>
          </a:xfrm>
        </p:spPr>
        <p:txBody>
          <a:bodyPr/>
          <a:lstStyle/>
          <a:p>
            <a:pPr algn="ctr"/>
            <a:r>
              <a:rPr lang="en-IN" dirty="0"/>
              <a:t>Literature Survey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99F27B-DF22-4A21-807B-640CD10CF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484A658-8F7C-490F-8F55-6C6CC85FFA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8676019"/>
              </p:ext>
            </p:extLst>
          </p:nvPr>
        </p:nvGraphicFramePr>
        <p:xfrm>
          <a:off x="538480" y="944881"/>
          <a:ext cx="11303000" cy="58168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98821">
                  <a:extLst>
                    <a:ext uri="{9D8B030D-6E8A-4147-A177-3AD203B41FA5}">
                      <a16:colId xmlns:a16="http://schemas.microsoft.com/office/drawing/2014/main" val="3122982398"/>
                    </a:ext>
                  </a:extLst>
                </a:gridCol>
                <a:gridCol w="8204179">
                  <a:extLst>
                    <a:ext uri="{9D8B030D-6E8A-4147-A177-3AD203B41FA5}">
                      <a16:colId xmlns:a16="http://schemas.microsoft.com/office/drawing/2014/main" val="2103634343"/>
                    </a:ext>
                  </a:extLst>
                </a:gridCol>
              </a:tblGrid>
              <a:tr h="753071">
                <a:tc>
                  <a:txBody>
                    <a:bodyPr/>
                    <a:lstStyle/>
                    <a:p>
                      <a:r>
                        <a:rPr lang="en-US" sz="2200" dirty="0"/>
                        <a:t>Name of research paper: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Research on Fake Indian Currency Note Detection using </a:t>
                      </a:r>
                      <a:r>
                        <a:rPr lang="en-US" sz="2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ImageProcessing</a:t>
                      </a:r>
                      <a:endParaRPr lang="en-IN" sz="2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781815"/>
                  </a:ext>
                </a:extLst>
              </a:tr>
              <a:tr h="429606">
                <a:tc>
                  <a:txBody>
                    <a:bodyPr/>
                    <a:lstStyle/>
                    <a:p>
                      <a:r>
                        <a:rPr lang="en-US" sz="2200" dirty="0"/>
                        <a:t>Year: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dirty="0"/>
                        <a:t>2021</a:t>
                      </a:r>
                      <a:endParaRPr lang="en-IN" sz="2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49079"/>
                  </a:ext>
                </a:extLst>
              </a:tr>
              <a:tr h="429606">
                <a:tc>
                  <a:txBody>
                    <a:bodyPr/>
                    <a:lstStyle/>
                    <a:p>
                      <a:r>
                        <a:rPr lang="en-US" sz="2200" dirty="0"/>
                        <a:t>Author: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Miss.I</a:t>
                      </a:r>
                      <a:r>
                        <a:rPr lang="en-IN" sz="2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en-IN" sz="2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Santhiya</a:t>
                      </a:r>
                      <a:r>
                        <a:rPr lang="en-IN" sz="2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2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Irulappasamy</a:t>
                      </a:r>
                      <a:endParaRPr lang="en-IN" sz="2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946529"/>
                  </a:ext>
                </a:extLst>
              </a:tr>
              <a:tr h="1149014">
                <a:tc>
                  <a:txBody>
                    <a:bodyPr/>
                    <a:lstStyle/>
                    <a:p>
                      <a:r>
                        <a:rPr lang="en-IN" sz="2200" dirty="0"/>
                        <a:t>Key Point: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employs software-based approaches, emphasizing texture and security feature analysis for classification between genuine and fake currency.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286593"/>
                  </a:ext>
                </a:extLst>
              </a:tr>
              <a:tr h="1187303">
                <a:tc>
                  <a:txBody>
                    <a:bodyPr/>
                    <a:lstStyle/>
                    <a:p>
                      <a:r>
                        <a:rPr lang="en-IN" sz="2200" dirty="0"/>
                        <a:t>Summary Of Abstract: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research highlights the development of an efficient, software-based system for detecting counterfeit Indian currency notes using image processing techniques.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543183"/>
                  </a:ext>
                </a:extLst>
              </a:tr>
              <a:tr h="1084422">
                <a:tc>
                  <a:txBody>
                    <a:bodyPr/>
                    <a:lstStyle/>
                    <a:p>
                      <a:r>
                        <a:rPr lang="en-IN" sz="2200" dirty="0"/>
                        <a:t>Plus Point: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proposed model offers high accuracy and efficiency through advanced feature extraction algorithms, potentially reducing manual errors.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679194"/>
                  </a:ext>
                </a:extLst>
              </a:tr>
              <a:tr h="744010">
                <a:tc>
                  <a:txBody>
                    <a:bodyPr/>
                    <a:lstStyle/>
                    <a:p>
                      <a:r>
                        <a:rPr lang="en-IN" sz="2200" dirty="0"/>
                        <a:t>Research Gap: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study lacks consideration of real-world challenges like blurred or partially visible images of currency notes.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154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3277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D117B9-4FAE-45DF-A5E8-F1F1865A5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1" y="-294640"/>
            <a:ext cx="10515600" cy="1620203"/>
          </a:xfrm>
        </p:spPr>
        <p:txBody>
          <a:bodyPr/>
          <a:lstStyle/>
          <a:p>
            <a:pPr algn="ctr"/>
            <a:r>
              <a:rPr lang="en-IN" dirty="0"/>
              <a:t>Literature Survey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99F27B-DF22-4A21-807B-640CD10CF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484A658-8F7C-490F-8F55-6C6CC85FFA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1761224"/>
              </p:ext>
            </p:extLst>
          </p:nvPr>
        </p:nvGraphicFramePr>
        <p:xfrm>
          <a:off x="538480" y="782320"/>
          <a:ext cx="11303000" cy="541044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98821">
                  <a:extLst>
                    <a:ext uri="{9D8B030D-6E8A-4147-A177-3AD203B41FA5}">
                      <a16:colId xmlns:a16="http://schemas.microsoft.com/office/drawing/2014/main" val="3122982398"/>
                    </a:ext>
                  </a:extLst>
                </a:gridCol>
                <a:gridCol w="8204179">
                  <a:extLst>
                    <a:ext uri="{9D8B030D-6E8A-4147-A177-3AD203B41FA5}">
                      <a16:colId xmlns:a16="http://schemas.microsoft.com/office/drawing/2014/main" val="2103634343"/>
                    </a:ext>
                  </a:extLst>
                </a:gridCol>
              </a:tblGrid>
              <a:tr h="603048">
                <a:tc>
                  <a:txBody>
                    <a:bodyPr/>
                    <a:lstStyle/>
                    <a:p>
                      <a:r>
                        <a:rPr lang="en-US" sz="2200" dirty="0"/>
                        <a:t>Name of research paper: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 review of Fake Currency Recognition Methods </a:t>
                      </a:r>
                      <a:endParaRPr lang="en-IN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781815"/>
                  </a:ext>
                </a:extLst>
              </a:tr>
              <a:tr h="425497">
                <a:tc>
                  <a:txBody>
                    <a:bodyPr/>
                    <a:lstStyle/>
                    <a:p>
                      <a:r>
                        <a:rPr lang="en-US" sz="2200" dirty="0"/>
                        <a:t>Year: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dirty="0"/>
                        <a:t>2022</a:t>
                      </a:r>
                      <a:endParaRPr lang="en-IN" sz="2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49079"/>
                  </a:ext>
                </a:extLst>
              </a:tr>
              <a:tr h="425497">
                <a:tc>
                  <a:txBody>
                    <a:bodyPr/>
                    <a:lstStyle/>
                    <a:p>
                      <a:r>
                        <a:rPr lang="en-US" sz="2200" dirty="0"/>
                        <a:t>Author: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b="0" dirty="0" err="1"/>
                        <a:t>Sruthy</a:t>
                      </a:r>
                      <a:r>
                        <a:rPr lang="en-IN" sz="2200" b="0" dirty="0"/>
                        <a:t> 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946529"/>
                  </a:ext>
                </a:extLst>
              </a:tr>
              <a:tr h="1158910">
                <a:tc>
                  <a:txBody>
                    <a:bodyPr/>
                    <a:lstStyle/>
                    <a:p>
                      <a:r>
                        <a:rPr lang="en-IN" sz="2200" dirty="0"/>
                        <a:t>Key Point: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study highlights the use of edge detection algorithms, such as Canny edge detection, for identifying counterfeit currency. This approach achieves an accuracy of approximately 90.45%.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286593"/>
                  </a:ext>
                </a:extLst>
              </a:tr>
              <a:tr h="1164657">
                <a:tc>
                  <a:txBody>
                    <a:bodyPr/>
                    <a:lstStyle/>
                    <a:p>
                      <a:r>
                        <a:rPr lang="en-IN" sz="2200" dirty="0"/>
                        <a:t>Summary Of Abstract: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paper reviews various methods for counterfeit currency detection, focusing on image processing and machine learning approaches.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543183"/>
                  </a:ext>
                </a:extLst>
              </a:tr>
              <a:tr h="759816">
                <a:tc>
                  <a:txBody>
                    <a:bodyPr/>
                    <a:lstStyle/>
                    <a:p>
                      <a:r>
                        <a:rPr lang="en-IN" sz="2200" dirty="0"/>
                        <a:t>Plus Point: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proposed techniques reduce reliance on expensive hardware and improve accessibility for regular users.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679194"/>
                  </a:ext>
                </a:extLst>
              </a:tr>
              <a:tr h="868389">
                <a:tc>
                  <a:txBody>
                    <a:bodyPr/>
                    <a:lstStyle/>
                    <a:p>
                      <a:r>
                        <a:rPr lang="en-IN" sz="2200" dirty="0"/>
                        <a:t>Research Gap: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Current models are often designed for specific currencies, limiting their applicability across different regions or note designs.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154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271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D117B9-4FAE-45DF-A5E8-F1F1865A5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1" y="-294640"/>
            <a:ext cx="10515600" cy="1620203"/>
          </a:xfrm>
        </p:spPr>
        <p:txBody>
          <a:bodyPr/>
          <a:lstStyle/>
          <a:p>
            <a:pPr algn="ctr"/>
            <a:r>
              <a:rPr lang="en-IN" dirty="0"/>
              <a:t>Literature Survey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99F27B-DF22-4A21-807B-640CD10CF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8484A658-8F7C-490F-8F55-6C6CC85FFA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3083044"/>
              </p:ext>
            </p:extLst>
          </p:nvPr>
        </p:nvGraphicFramePr>
        <p:xfrm>
          <a:off x="538480" y="944882"/>
          <a:ext cx="11303000" cy="584082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98821">
                  <a:extLst>
                    <a:ext uri="{9D8B030D-6E8A-4147-A177-3AD203B41FA5}">
                      <a16:colId xmlns:a16="http://schemas.microsoft.com/office/drawing/2014/main" val="3122982398"/>
                    </a:ext>
                  </a:extLst>
                </a:gridCol>
                <a:gridCol w="8204179">
                  <a:extLst>
                    <a:ext uri="{9D8B030D-6E8A-4147-A177-3AD203B41FA5}">
                      <a16:colId xmlns:a16="http://schemas.microsoft.com/office/drawing/2014/main" val="2103634343"/>
                    </a:ext>
                  </a:extLst>
                </a:gridCol>
              </a:tblGrid>
              <a:tr h="581323">
                <a:tc>
                  <a:txBody>
                    <a:bodyPr/>
                    <a:lstStyle/>
                    <a:p>
                      <a:r>
                        <a:rPr lang="en-US" sz="2200" dirty="0"/>
                        <a:t>Name of research paper: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Detection of Fake Currency Using Machine Learning Models</a:t>
                      </a:r>
                      <a:endParaRPr lang="en-IN" sz="2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781815"/>
                  </a:ext>
                </a:extLst>
              </a:tr>
              <a:tr h="420603">
                <a:tc>
                  <a:txBody>
                    <a:bodyPr/>
                    <a:lstStyle/>
                    <a:p>
                      <a:r>
                        <a:rPr lang="en-US" sz="2200" dirty="0"/>
                        <a:t>Year: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200" b="0" dirty="0"/>
                        <a:t>2024</a:t>
                      </a:r>
                      <a:endParaRPr lang="en-IN" sz="2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49079"/>
                  </a:ext>
                </a:extLst>
              </a:tr>
              <a:tr h="420603">
                <a:tc>
                  <a:txBody>
                    <a:bodyPr/>
                    <a:lstStyle/>
                    <a:p>
                      <a:r>
                        <a:rPr lang="en-US" sz="2200" dirty="0"/>
                        <a:t>Authors:</a:t>
                      </a:r>
                      <a:endParaRPr lang="en-IN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Dr.</a:t>
                      </a:r>
                      <a:r>
                        <a:rPr lang="en-IN" sz="2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2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Sarangam</a:t>
                      </a:r>
                      <a:r>
                        <a:rPr lang="en-IN" sz="2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2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Kodati</a:t>
                      </a:r>
                      <a:r>
                        <a:rPr lang="en-IN" sz="2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IN" sz="2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Dr.</a:t>
                      </a:r>
                      <a:r>
                        <a:rPr lang="en-IN" sz="22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M. </a:t>
                      </a:r>
                      <a:r>
                        <a:rPr lang="en-IN" sz="2200" b="0" i="0" u="none" strike="noStrike" kern="1200" baseline="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Dhasaratham</a:t>
                      </a:r>
                      <a:endParaRPr lang="en-IN" sz="2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5946529"/>
                  </a:ext>
                </a:extLst>
              </a:tr>
              <a:tr h="1412024">
                <a:tc>
                  <a:txBody>
                    <a:bodyPr/>
                    <a:lstStyle/>
                    <a:p>
                      <a:r>
                        <a:rPr lang="en-IN" sz="2200" dirty="0"/>
                        <a:t>Key Point: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study focuses on detecting fake currency using machine learning algorithms such as K-Nearest Neighbors (KNN) and Support Vector Machines (SVM), achieving high accuracy through advanced image processing techniques like wavelet transforms and feature extraction.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0286593"/>
                  </a:ext>
                </a:extLst>
              </a:tr>
              <a:tr h="778940">
                <a:tc>
                  <a:txBody>
                    <a:bodyPr/>
                    <a:lstStyle/>
                    <a:p>
                      <a:r>
                        <a:rPr lang="en-IN" sz="2200" dirty="0"/>
                        <a:t>Summary Of Abstract: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highlights KNN as particularly effective for small datasets, achieving high precision and reliability in identifying fake notes.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5543183"/>
                  </a:ext>
                </a:extLst>
              </a:tr>
              <a:tr h="1081550">
                <a:tc>
                  <a:txBody>
                    <a:bodyPr/>
                    <a:lstStyle/>
                    <a:p>
                      <a:r>
                        <a:rPr lang="en-IN" sz="2200" dirty="0"/>
                        <a:t>Plus Point: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study achieves remarkable accuracy (99.9%) using straightforward yet robust techniques like KNN and SVM, making it accessible for real-world applications.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679194"/>
                  </a:ext>
                </a:extLst>
              </a:tr>
              <a:tr h="1081550">
                <a:tc>
                  <a:txBody>
                    <a:bodyPr/>
                    <a:lstStyle/>
                    <a:p>
                      <a:r>
                        <a:rPr lang="en-IN" sz="2200" dirty="0"/>
                        <a:t>Research Gap: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dataset used is relatively small and captured under controlled conditions, which may not fully represent real-world scenarios with varied lighting, wear, and tear.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154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988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D117B9-4FAE-45DF-A5E8-F1F1865A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Problem Statement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34ED2F-AC4C-4255-A9C2-A8A1F7A0A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15975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dirty="0"/>
              <a:t>Currency Image Verification</a:t>
            </a:r>
          </a:p>
          <a:p>
            <a:pPr marL="815975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dirty="0"/>
              <a:t>ML Model Integration</a:t>
            </a:r>
          </a:p>
          <a:p>
            <a:pPr marL="815975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dirty="0"/>
              <a:t>Optical Feature Extraction</a:t>
            </a:r>
          </a:p>
          <a:p>
            <a:pPr marL="815975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600" dirty="0"/>
              <a:t>Automated Pattern Recognition</a:t>
            </a:r>
            <a:endParaRPr lang="en-IN" sz="26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F08F8E-E960-4DA3-999B-CDA2661A7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577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D117B9-4FAE-45DF-A5E8-F1F1865A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System Requirements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AE5E896-E647-436B-B4D1-DCDE08A975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Software Requirements: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5D6382-2654-424F-A034-DCFD6B458E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7892" y="2505075"/>
            <a:ext cx="4851131" cy="2800351"/>
          </a:xfrm>
          <a:ln>
            <a:solidFill>
              <a:schemeClr val="tx1"/>
            </a:solidFill>
          </a:ln>
        </p:spPr>
        <p:txBody>
          <a:bodyPr>
            <a:normAutofit fontScale="25000" lnSpcReduction="20000"/>
          </a:bodyPr>
          <a:lstStyle/>
          <a:p>
            <a:pPr marL="92075" indent="0">
              <a:lnSpc>
                <a:spcPct val="150000"/>
              </a:lnSpc>
              <a:buNone/>
            </a:pPr>
            <a:endParaRPr lang="en-IN" sz="2600" b="1" dirty="0"/>
          </a:p>
          <a:p>
            <a:pPr marL="92075" indent="0">
              <a:lnSpc>
                <a:spcPct val="150000"/>
              </a:lnSpc>
              <a:buNone/>
            </a:pPr>
            <a:r>
              <a:rPr lang="en-IN" sz="8000" dirty="0"/>
              <a:t>  Programming Language: Python</a:t>
            </a:r>
          </a:p>
          <a:p>
            <a:pPr marL="92075" indent="0">
              <a:lnSpc>
                <a:spcPct val="150000"/>
              </a:lnSpc>
              <a:buNone/>
            </a:pPr>
            <a:r>
              <a:rPr lang="en-IN" sz="8000" dirty="0"/>
              <a:t>  </a:t>
            </a:r>
            <a:r>
              <a:rPr lang="en-IN" sz="8000" dirty="0" err="1"/>
              <a:t>Framework:Flask</a:t>
            </a:r>
            <a:endParaRPr lang="en-IN" sz="8000" dirty="0"/>
          </a:p>
          <a:p>
            <a:pPr marL="92075" indent="0">
              <a:lnSpc>
                <a:spcPct val="150000"/>
              </a:lnSpc>
              <a:buNone/>
            </a:pPr>
            <a:r>
              <a:rPr lang="en-IN" sz="8000" dirty="0"/>
              <a:t>  Libraries for Image </a:t>
            </a:r>
            <a:r>
              <a:rPr lang="en-IN" sz="8000" dirty="0" err="1"/>
              <a:t>Processing:OpenCV</a:t>
            </a:r>
            <a:endParaRPr lang="en-IN" sz="8000" dirty="0"/>
          </a:p>
          <a:p>
            <a:pPr marL="92075" indent="0">
              <a:lnSpc>
                <a:spcPct val="150000"/>
              </a:lnSpc>
              <a:buNone/>
            </a:pPr>
            <a:r>
              <a:rPr lang="en-IN" sz="8000" dirty="0"/>
              <a:t>  Frontend </a:t>
            </a:r>
            <a:r>
              <a:rPr lang="en-IN" sz="8000" dirty="0" err="1"/>
              <a:t>Tools:HTML</a:t>
            </a:r>
            <a:r>
              <a:rPr lang="en-IN" sz="8000" dirty="0"/>
              <a:t> and CSS</a:t>
            </a:r>
          </a:p>
          <a:p>
            <a:pPr marL="92075" indent="0">
              <a:lnSpc>
                <a:spcPct val="150000"/>
              </a:lnSpc>
              <a:buNone/>
            </a:pPr>
            <a:r>
              <a:rPr lang="en-IN" sz="8000" dirty="0"/>
              <a:t>  Pre-trained </a:t>
            </a:r>
            <a:r>
              <a:rPr lang="en-IN" sz="8000" dirty="0" err="1"/>
              <a:t>Model:</a:t>
            </a:r>
            <a:r>
              <a:rPr lang="en-IN" sz="8000" dirty="0" err="1">
                <a:effectLst/>
                <a:ea typeface="Times New Roman" panose="02020603050405020304" pitchFamily="18" charset="0"/>
              </a:rPr>
              <a:t>scikit-image</a:t>
            </a:r>
            <a:endParaRPr lang="en-IN" sz="8000" dirty="0"/>
          </a:p>
          <a:p>
            <a:pPr fontAlgn="t">
              <a:buFont typeface="Wingdings" panose="05000000000000000000" pitchFamily="2" charset="2"/>
              <a:buChar char="Ø"/>
            </a:pPr>
            <a:endParaRPr lang="en-IN" sz="8000" dirty="0"/>
          </a:p>
          <a:p>
            <a:pPr fontAlgn="t">
              <a:buFont typeface="Wingdings" panose="05000000000000000000" pitchFamily="2" charset="2"/>
              <a:buChar char="Ø"/>
            </a:pPr>
            <a:endParaRPr lang="en-IN" sz="10400" dirty="0"/>
          </a:p>
          <a:p>
            <a:pPr fontAlgn="t">
              <a:buFont typeface="Wingdings" panose="05000000000000000000" pitchFamily="2" charset="2"/>
              <a:buChar char="Ø"/>
            </a:pPr>
            <a:endParaRPr lang="en-IN" dirty="0"/>
          </a:p>
          <a:p>
            <a:pPr fontAlgn="t"/>
            <a:endParaRPr lang="en-IN" dirty="0"/>
          </a:p>
          <a:p>
            <a:pPr marL="549275" indent="-457200">
              <a:lnSpc>
                <a:spcPct val="150000"/>
              </a:lnSpc>
            </a:pPr>
            <a:endParaRPr lang="en-IN" sz="2600" dirty="0"/>
          </a:p>
          <a:p>
            <a:pPr marL="549275" indent="-457200">
              <a:lnSpc>
                <a:spcPct val="150000"/>
              </a:lnSpc>
            </a:pPr>
            <a:endParaRPr lang="en-IN" sz="2600" dirty="0"/>
          </a:p>
          <a:p>
            <a:pPr marL="549275" indent="-457200">
              <a:lnSpc>
                <a:spcPct val="150000"/>
              </a:lnSpc>
            </a:pPr>
            <a:endParaRPr lang="en-IN" sz="2600" dirty="0"/>
          </a:p>
          <a:p>
            <a:pPr marL="0" indent="0">
              <a:buNone/>
            </a:pPr>
            <a:r>
              <a:rPr lang="en-IN" sz="2600" dirty="0"/>
              <a:t>    </a:t>
            </a:r>
          </a:p>
          <a:p>
            <a:pPr marL="0" indent="0">
              <a:buNone/>
            </a:pPr>
            <a:r>
              <a:rPr lang="en-IN" dirty="0"/>
              <a:t>  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	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CF3FF5F-8606-4CAE-BC58-CC024967EB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Hardware Requirements: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F0CD095-FC41-45BE-A132-6333EBF982C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endParaRPr lang="en-IN" sz="8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8A5C56-D3DB-4F92-8B73-D8BDEBA24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86FB7F-8F83-418F-A29B-A9E1915C3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CCAFBD-0B0E-4154-91F2-E02DACC01EF0}"/>
              </a:ext>
            </a:extLst>
          </p:cNvPr>
          <p:cNvSpPr/>
          <p:nvPr/>
        </p:nvSpPr>
        <p:spPr>
          <a:xfrm>
            <a:off x="6172200" y="2544763"/>
            <a:ext cx="5167178" cy="263207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70000"/>
              </a:lnSpc>
            </a:pPr>
            <a:r>
              <a:rPr lang="en-IN" sz="2000" dirty="0">
                <a:solidFill>
                  <a:schemeClr val="tx1"/>
                </a:solidFill>
              </a:rPr>
              <a:t>I7 Processor:1.90 GHz</a:t>
            </a:r>
          </a:p>
          <a:p>
            <a:pPr>
              <a:lnSpc>
                <a:spcPct val="170000"/>
              </a:lnSpc>
            </a:pPr>
            <a:r>
              <a:rPr lang="en-IN" sz="2000" dirty="0">
                <a:solidFill>
                  <a:schemeClr val="tx1"/>
                </a:solidFill>
              </a:rPr>
              <a:t>Installed RAM:16.0 GB</a:t>
            </a:r>
          </a:p>
          <a:p>
            <a:pPr>
              <a:lnSpc>
                <a:spcPct val="170000"/>
              </a:lnSpc>
            </a:pP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515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D117B9-4FAE-45DF-A5E8-F1F1865A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Objectives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34ED2F-AC4C-4255-A9C2-A8A1F7A0A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815975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Detecting fake currency from various countries without internet access.</a:t>
            </a:r>
          </a:p>
          <a:p>
            <a:pPr marL="815975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Implement image processing techniques to analyze and validate currency notes.</a:t>
            </a:r>
          </a:p>
          <a:p>
            <a:pPr marL="815975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Incorporate functionality to accept and process blurred images for detection.</a:t>
            </a:r>
          </a:p>
          <a:p>
            <a:pPr marL="815975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Create a user-friendly interface for uploading images and displaying results.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5293BD-B7A6-4092-B9BA-060AA637F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5629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D117B9-4FAE-45DF-A5E8-F1F1865A5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6999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Methodology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34ED2F-AC4C-4255-A9C2-A8A1F7A0A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8100"/>
            <a:ext cx="10515600" cy="4868863"/>
          </a:xfrm>
        </p:spPr>
        <p:txBody>
          <a:bodyPr>
            <a:normAutofit/>
          </a:bodyPr>
          <a:lstStyle/>
          <a:p>
            <a:pPr marL="358775" indent="0" algn="just">
              <a:lnSpc>
                <a:spcPct val="150000"/>
              </a:lnSpc>
              <a:buNone/>
            </a:pPr>
            <a:endParaRPr lang="en-US" sz="2600" dirty="0"/>
          </a:p>
          <a:p>
            <a:pPr marL="358775" indent="0" algn="just">
              <a:lnSpc>
                <a:spcPct val="150000"/>
              </a:lnSpc>
              <a:buNone/>
            </a:pPr>
            <a:endParaRPr lang="en-US" sz="2600" dirty="0"/>
          </a:p>
          <a:p>
            <a:pPr marL="890588" indent="-531813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600" dirty="0"/>
          </a:p>
          <a:p>
            <a:pPr marL="890588" indent="-531813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600" dirty="0"/>
          </a:p>
          <a:p>
            <a:pPr marL="890588" indent="-531813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0862B9-49EB-4B66-AA99-ABB3C479E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27180B-1633-43CC-97F1-B5256908D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1400" y="1535614"/>
            <a:ext cx="7797800" cy="468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8191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AA9AB-6445-D445-E28B-C9E40FF41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7355"/>
            <a:ext cx="10515600" cy="1325563"/>
          </a:xfrm>
        </p:spPr>
        <p:txBody>
          <a:bodyPr/>
          <a:lstStyle/>
          <a:p>
            <a:r>
              <a:rPr lang="en-IN" dirty="0"/>
              <a:t>System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C9F66-A90F-C2A9-E069-6AB350445C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1550"/>
            <a:ext cx="10515600" cy="2959101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E5998-9AEB-0B0B-F60B-AF19E35AB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25C449-D534-5721-948A-A98A68D50E0A}"/>
              </a:ext>
            </a:extLst>
          </p:cNvPr>
          <p:cNvSpPr/>
          <p:nvPr/>
        </p:nvSpPr>
        <p:spPr>
          <a:xfrm>
            <a:off x="1198880" y="2428240"/>
            <a:ext cx="181864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200" b="1" dirty="0"/>
              <a:t>Upload Images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3229EAE-D646-14BF-B923-CAB44016733D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017520" y="2885440"/>
            <a:ext cx="1087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612CC41-608E-9D29-A32B-0A3A440C9CA4}"/>
              </a:ext>
            </a:extLst>
          </p:cNvPr>
          <p:cNvSpPr/>
          <p:nvPr/>
        </p:nvSpPr>
        <p:spPr>
          <a:xfrm>
            <a:off x="4104640" y="2428240"/>
            <a:ext cx="188976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200" b="1" dirty="0"/>
              <a:t>Extract Features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C1E92E-27D1-E440-FB53-7EA97E57FD6F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5994400" y="2885440"/>
            <a:ext cx="9753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FBD57D3-5EA3-9B7F-C8E2-4289CAFA9CDE}"/>
              </a:ext>
            </a:extLst>
          </p:cNvPr>
          <p:cNvSpPr/>
          <p:nvPr/>
        </p:nvSpPr>
        <p:spPr>
          <a:xfrm>
            <a:off x="6969760" y="2428234"/>
            <a:ext cx="1818640" cy="91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200" b="1" dirty="0"/>
              <a:t>Predict and Generate Report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E5B3866-0EC4-C3B1-1AEC-F7E7F913042D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8788400" y="2885434"/>
            <a:ext cx="677333" cy="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D0C12D8-E419-0BCC-0595-79A1E82C7778}"/>
              </a:ext>
            </a:extLst>
          </p:cNvPr>
          <p:cNvSpPr/>
          <p:nvPr/>
        </p:nvSpPr>
        <p:spPr>
          <a:xfrm>
            <a:off x="9465733" y="2428234"/>
            <a:ext cx="1663700" cy="8712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200" b="1" dirty="0"/>
              <a:t>Show result</a:t>
            </a:r>
          </a:p>
        </p:txBody>
      </p:sp>
    </p:spTree>
    <p:extLst>
      <p:ext uri="{BB962C8B-B14F-4D97-AF65-F5344CB8AC3E}">
        <p14:creationId xmlns:p14="http://schemas.microsoft.com/office/powerpoint/2010/main" val="1179185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D2C90-C888-50D9-6A6B-062A14A91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IN" dirty="0"/>
              <a:t>Set Of Inputs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896AE8C-5B0A-0740-B8D8-D47693C140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473199" y="1130300"/>
            <a:ext cx="9812509" cy="536257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E4BFE-9AB9-72BD-45E2-6D4F984BE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916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D2C90-C888-50D9-6A6B-062A14A91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en-IN" dirty="0"/>
              <a:t>Implementation</a:t>
            </a:r>
          </a:p>
        </p:txBody>
      </p:sp>
      <p:pic>
        <p:nvPicPr>
          <p:cNvPr id="6" name="Content Placeholder 5" descr="A screenshot of a computer">
            <a:extLst>
              <a:ext uri="{FF2B5EF4-FFF2-40B4-BE49-F238E27FC236}">
                <a16:creationId xmlns:a16="http://schemas.microsoft.com/office/drawing/2014/main" id="{4896AE8C-5B0A-0740-B8D8-D47693C140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3200" y="1231900"/>
            <a:ext cx="9626600" cy="526097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E4BFE-9AB9-72BD-45E2-6D4F984BE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530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D2C90-C888-50D9-6A6B-062A14A91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025"/>
            <a:ext cx="10515600" cy="1325563"/>
          </a:xfrm>
        </p:spPr>
        <p:txBody>
          <a:bodyPr/>
          <a:lstStyle/>
          <a:p>
            <a:r>
              <a:rPr lang="en-IN" dirty="0"/>
              <a:t>Implementation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896AE8C-5B0A-0740-B8D8-D47693C140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473200" y="1168400"/>
            <a:ext cx="9626600" cy="532447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E4BFE-9AB9-72BD-45E2-6D4F984BE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3596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D2C90-C888-50D9-6A6B-062A14A91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68263"/>
            <a:ext cx="10515600" cy="1325563"/>
          </a:xfrm>
        </p:spPr>
        <p:txBody>
          <a:bodyPr/>
          <a:lstStyle/>
          <a:p>
            <a:r>
              <a:rPr lang="en-IN" dirty="0"/>
              <a:t>Implementation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896AE8C-5B0A-0740-B8D8-D47693C140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473200" y="1092200"/>
            <a:ext cx="9626600" cy="540067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CE4BFE-9AB9-72BD-45E2-6D4F984BE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321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D117B9-4FAE-45DF-A5E8-F1F1865A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Expected Outcomes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34ED2F-AC4C-4255-A9C2-A8A1F7A0A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815975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/>
              <a:t>Detects fake currency notes and coins across multiple countries</a:t>
            </a:r>
          </a:p>
          <a:p>
            <a:pPr marL="815975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/>
              <a:t>Identifies counterfeit features without internet or external hardware</a:t>
            </a:r>
          </a:p>
          <a:p>
            <a:pPr marL="815975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/>
              <a:t>Uses local image processing to classify currencies</a:t>
            </a:r>
          </a:p>
          <a:p>
            <a:pPr marL="815975" indent="-4572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/>
              <a:t>Logs the location of the detected fake currency for tracking</a:t>
            </a:r>
            <a:endParaRPr lang="en-IN" sz="2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B0A2F2-76A2-436E-9C05-F8831A2C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2900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D117B9-4FAE-45DF-A5E8-F1F1865A5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Conclusion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34ED2F-AC4C-4255-A9C2-A8A1F7A0A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7299"/>
            <a:ext cx="10515600" cy="5143066"/>
          </a:xfrm>
        </p:spPr>
        <p:txBody>
          <a:bodyPr>
            <a:noAutofit/>
          </a:bodyPr>
          <a:lstStyle/>
          <a:p>
            <a:pPr marL="701675" indent="-342900" algn="just">
              <a:lnSpc>
                <a:spcPct val="150000"/>
              </a:lnSpc>
            </a:pPr>
            <a:r>
              <a:rPr lang="en-US" sz="2600" dirty="0"/>
              <a:t>Successfully implemented image preprocessing, feature extraction, and note validation with 70% functional output.</a:t>
            </a:r>
          </a:p>
          <a:p>
            <a:pPr marL="701675" indent="-342900" algn="just">
              <a:lnSpc>
                <a:spcPct val="150000"/>
              </a:lnSpc>
            </a:pPr>
            <a:r>
              <a:rPr lang="en-US" sz="2600" dirty="0"/>
              <a:t>Remaining tasks include enhancing the system for coin detection capabilities.</a:t>
            </a:r>
          </a:p>
          <a:p>
            <a:pPr marL="701675" indent="-342900" algn="just">
              <a:lnSpc>
                <a:spcPct val="150000"/>
              </a:lnSpc>
            </a:pPr>
            <a:r>
              <a:rPr lang="en-US" sz="2600" dirty="0"/>
              <a:t>Live location integration and automated report generation are under development.</a:t>
            </a:r>
          </a:p>
          <a:p>
            <a:pPr marL="701675" indent="-342900" algn="just">
              <a:lnSpc>
                <a:spcPct val="150000"/>
              </a:lnSpc>
            </a:pPr>
            <a:r>
              <a:rPr lang="en-US" sz="2600" dirty="0"/>
              <a:t>On track to deliver a comprehensive fake currency detection solution using Python and Flask.</a:t>
            </a:r>
            <a:endParaRPr lang="en-IN" sz="2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6BEDA9-855A-41BE-80C0-327BDB410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387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3"/>
          <p:cNvSpPr txBox="1"/>
          <p:nvPr/>
        </p:nvSpPr>
        <p:spPr>
          <a:xfrm>
            <a:off x="1524000" y="533401"/>
            <a:ext cx="91440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/>
            <a:r>
              <a:rPr sz="4000" b="1" u="sng" dirty="0">
                <a:solidFill>
                  <a:schemeClr val="bg1"/>
                </a:solidFill>
                <a:latin typeface="Palatino Linotype" panose="02040502050505030304" pitchFamily="18" charset="0"/>
              </a:rPr>
              <a:t>14.  ‘Thank You’ Slide (1 slide)</a:t>
            </a:r>
          </a:p>
        </p:txBody>
      </p:sp>
      <p:sp>
        <p:nvSpPr>
          <p:cNvPr id="16387" name="Text Box 4"/>
          <p:cNvSpPr txBox="1"/>
          <p:nvPr/>
        </p:nvSpPr>
        <p:spPr>
          <a:xfrm>
            <a:off x="1752600" y="1524001"/>
            <a:ext cx="8686800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buClr>
                <a:srgbClr val="5FD1FF"/>
              </a:buClr>
              <a:buFont typeface="Wingdings" panose="05000000000000000000" pitchFamily="2" charset="2"/>
              <a:buNone/>
            </a:pPr>
            <a:r>
              <a:rPr sz="2400" dirty="0">
                <a:solidFill>
                  <a:schemeClr val="bg1"/>
                </a:solidFill>
                <a:latin typeface="Palatino Linotype" panose="02040502050505030304" pitchFamily="18" charset="0"/>
              </a:rPr>
              <a:t>Just mention ‘THANK YOU’ on this slide.</a:t>
            </a:r>
          </a:p>
          <a:p>
            <a:pPr algn="ctr">
              <a:buClr>
                <a:srgbClr val="5FD1FF"/>
              </a:buClr>
              <a:buFont typeface="Wingdings" panose="05000000000000000000" pitchFamily="2" charset="2"/>
              <a:buNone/>
            </a:pPr>
            <a:r>
              <a:rPr sz="2400" dirty="0">
                <a:solidFill>
                  <a:schemeClr val="bg1"/>
                </a:solidFill>
                <a:latin typeface="Palatino Linotype" panose="02040502050505030304" pitchFamily="18" charset="0"/>
              </a:rPr>
              <a:t>Include ‘QUESTIONS?’ If you want.</a:t>
            </a:r>
          </a:p>
        </p:txBody>
      </p:sp>
      <p:sp>
        <p:nvSpPr>
          <p:cNvPr id="16388" name="Text Box 5"/>
          <p:cNvSpPr txBox="1"/>
          <p:nvPr/>
        </p:nvSpPr>
        <p:spPr>
          <a:xfrm>
            <a:off x="1524000" y="2697164"/>
            <a:ext cx="9144000" cy="11890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sz="7200" b="1" dirty="0">
                <a:latin typeface="Palatino Linotype" panose="02040502050505030304" pitchFamily="18" charset="0"/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9C959E-1394-4C9D-BA6E-1A56969E5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3380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 New Roma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</TotalTime>
  <Words>1001</Words>
  <Application>Microsoft Office PowerPoint</Application>
  <PresentationFormat>Widescreen</PresentationFormat>
  <Paragraphs>210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Palatino Linotype</vt:lpstr>
      <vt:lpstr>Times New Roman</vt:lpstr>
      <vt:lpstr>Wingdings</vt:lpstr>
      <vt:lpstr>Office Theme</vt:lpstr>
      <vt:lpstr>Fake Currency Detection Using Python Flask</vt:lpstr>
      <vt:lpstr>Agenda</vt:lpstr>
      <vt:lpstr>Introduction</vt:lpstr>
      <vt:lpstr>Literature Survey</vt:lpstr>
      <vt:lpstr>Literature Survey</vt:lpstr>
      <vt:lpstr>Literature Survey</vt:lpstr>
      <vt:lpstr>Literature Survey</vt:lpstr>
      <vt:lpstr>Literature Survey</vt:lpstr>
      <vt:lpstr>Problem Statement</vt:lpstr>
      <vt:lpstr>System Requirements</vt:lpstr>
      <vt:lpstr>Objectives</vt:lpstr>
      <vt:lpstr>Methodology</vt:lpstr>
      <vt:lpstr>System Design</vt:lpstr>
      <vt:lpstr>Set Of Inputs</vt:lpstr>
      <vt:lpstr>Implementation</vt:lpstr>
      <vt:lpstr>Implementation</vt:lpstr>
      <vt:lpstr>Implementation</vt:lpstr>
      <vt:lpstr>Expected Outcomes</vt:lpstr>
      <vt:lpstr>Conclusion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suhas g k</dc:creator>
  <cp:lastModifiedBy>MAHESH BADIGER</cp:lastModifiedBy>
  <cp:revision>197</cp:revision>
  <dcterms:created xsi:type="dcterms:W3CDTF">2019-05-10T05:31:51Z</dcterms:created>
  <dcterms:modified xsi:type="dcterms:W3CDTF">2024-11-20T08:28:48Z</dcterms:modified>
</cp:coreProperties>
</file>